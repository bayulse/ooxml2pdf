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bg>
      <p:bgRef idx="1001">
        <a:schemeClr val="lt2"/>
      </p:bgRef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508000" y="254000"/>
            <a:ext cx="8128000" cy="889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>
              <a:defRPr sz="3000" b="1" i="1"/>
            </a:pPr>
            <a:r>
              <a:t>DrawingML style matrix — Résumé</a:t>
            </a:r>
          </a:p>
        </p:txBody>
        <p:style>
          <a:fontRef idx="major">
            <a:schemeClr val="dk2"/>
          </a:fontRef>
        </p:style>
      </p:sp>
      <p:sp>
        <p:nvSpPr>
          <p:cNvPr id="3" name="Rectangle 3"/>
          <p:cNvSpPr/>
          <p:nvPr/>
        </p:nvSpPr>
        <p:spPr>
          <a:xfrm>
            <a:off x="508000" y="1778000"/>
            <a:ext cx="2540000" cy="3302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defRPr sz="2400" b="1" i="1"/>
            </a:pPr>
            <a:r>
              <a:t>Theme fill</a:t>
            </a:r>
          </a:p>
          <a:p>
            <a:pPr>
              <a:defRPr sz="1800" b="0"/>
            </a:pPr>
            <a:r>
              <a:t>Theme styles supply paint. Local formatting has priority.</a:t>
            </a:r>
          </a:p>
        </p:txBody>
        <p:style>
          <a:fillRef idx="1">
            <a:schemeClr val="accent1"/>
          </a:fillRef>
          <a:lnRef idx="1">
            <a:schemeClr val="accent1"/>
          </a:lnRef>
          <a:fontRef idx="minor">
            <a:schemeClr val="dk1"/>
          </a:fontRef>
        </p:style>
      </p:sp>
      <p:sp>
        <p:nvSpPr>
          <p:cNvPr id="4" name="Rectangle 4"/>
          <p:cNvSpPr/>
          <p:nvPr/>
        </p:nvSpPr>
        <p:spPr>
          <a:xfrm>
            <a:off x="3302000" y="1778000"/>
            <a:ext cx="2540000" cy="330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 i="1"/>
            </a:pPr>
            <a:r>
              <a:t>Theme line</a:t>
            </a:r>
          </a:p>
          <a:p>
            <a:pPr>
              <a:defRPr sz="1800" b="0"/>
            </a:pPr>
            <a:r>
              <a:t>Theme styles supply paint. Local formatting has priority.</a:t>
            </a:r>
          </a:p>
        </p:txBody>
        <p:style>
          <a:fillRef idx="1">
            <a:schemeClr val="accent2"/>
          </a:fillRef>
          <a:lnRef idx="1">
            <a:schemeClr val="accent4"/>
          </a:lnRef>
          <a:fontRef idx="minor">
            <a:schemeClr val="dk1"/>
          </a:fontRef>
        </p:style>
      </p:sp>
      <p:sp>
        <p:nvSpPr>
          <p:cNvPr id="5" name="Rectangle 5"/>
          <p:cNvSpPr/>
          <p:nvPr/>
        </p:nvSpPr>
        <p:spPr>
          <a:xfrm>
            <a:off x="6096000" y="1778000"/>
            <a:ext cx="2540000" cy="3302000"/>
          </a:xfrm>
          <a:prstGeom prst="rect">
            <a:avLst/>
          </a:prstGeom>
          <a:solidFill>
            <a:srgbClr val="E88A20"/>
          </a:solidFill>
          <a:ln w="38100">
            <a:solidFill>
              <a:srgbClr val="24334A"/>
            </a:solidFill>
          </a:ln>
        </p:spPr>
        <p:txBody>
          <a:bodyPr wrap="square">
            <a:noAutofit/>
          </a:bodyPr>
          <a:lstStyle/>
          <a:p>
            <a:pPr>
              <a:defRPr sz="2400" b="1" i="1"/>
            </a:pPr>
            <a:r>
              <a:t>Local override</a:t>
            </a:r>
          </a:p>
          <a:p>
            <a:pPr>
              <a:defRPr sz="1800" b="0"/>
            </a:pPr>
            <a:r>
              <a:t>Theme styles supply paint. Local formatting has priority.</a:t>
            </a:r>
          </a:p>
        </p:txBody>
        <p:style>
          <a:fillRef idx="1">
            <a:schemeClr val="accent1"/>
          </a:fillRef>
          <a:lnRef idx="1">
            <a:schemeClr val="accent4"/>
          </a:lnRef>
          <a:fontRef idx="minor">
            <a:schemeClr val="dk1"/>
          </a:fontRef>
        </p:style>
      </p:sp>
      <p:sp>
        <p:nvSpPr>
          <p:cNvPr id="6" name="Rectangle 6"/>
          <p:cNvSpPr/>
          <p:nvPr/>
        </p:nvSpPr>
        <p:spPr>
          <a:xfrm>
            <a:off x="508000" y="5461000"/>
            <a:ext cx="8128000" cy="889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>
              <a:defRPr sz="1800"/>
            </a:pPr>
            <a:r>
              <a:t>Background: bgRef 1001 uses the first bgFillStyleLst entry. Text remains selectable Unicode.</a:t>
            </a:r>
          </a:p>
        </p:txBody>
        <p:style>
          <a:fontRef idx="minor">
            <a:schemeClr val="dk2"/>
          </a:font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