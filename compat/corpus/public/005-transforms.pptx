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979A8"/>
                </a:solidFill>
                <a:latin typeface="Aptos"/>
              </a:rPr>
              <a:t>01 /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A route through the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Rotated elements, direction changes and layered motion.</a:t>
            </a:r>
          </a:p>
        </p:txBody>
      </p:sp>
      <p:sp>
        <p:nvSpPr>
          <p:cNvPr id="6" name="Rounded Rectangle 5"/>
          <p:cNvSpPr/>
          <p:nvPr/>
        </p:nvSpPr>
        <p:spPr>
          <a:xfrm rot="21120000">
            <a:off x="960120" y="2907792"/>
            <a:ext cx="10012680" cy="731520"/>
          </a:xfrm>
          <a:prstGeom prst="roundRect">
            <a:avLst>
              <a:gd name="adj" fmla="val 12000"/>
            </a:avLst>
          </a:prstGeom>
          <a:solidFill>
            <a:srgbClr val="DC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3931920"/>
            <a:ext cx="822960" cy="822960"/>
          </a:xfrm>
          <a:prstGeom prst="ellipse">
            <a:avLst/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931920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8463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7324D"/>
                </a:solidFill>
                <a:latin typeface="Aptos"/>
              </a:rPr>
              <a:t>START</a:t>
            </a:r>
          </a:p>
        </p:txBody>
      </p:sp>
      <p:sp>
        <p:nvSpPr>
          <p:cNvPr id="10" name="Oval 9"/>
          <p:cNvSpPr/>
          <p:nvPr/>
        </p:nvSpPr>
        <p:spPr>
          <a:xfrm>
            <a:off x="3840480" y="3337560"/>
            <a:ext cx="822960" cy="822960"/>
          </a:xfrm>
          <a:prstGeom prst="ellipse">
            <a:avLst/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337560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5196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7324D"/>
                </a:solidFill>
                <a:latin typeface="Aptos"/>
              </a:rPr>
              <a:t>CONNECT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697480"/>
            <a:ext cx="822960" cy="822960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1188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7324D"/>
                </a:solidFill>
                <a:latin typeface="Aptos"/>
              </a:rPr>
              <a:t>SERVE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2057400"/>
            <a:ext cx="822960" cy="822960"/>
          </a:xfrm>
          <a:prstGeom prst="ellipse">
            <a:avLst/>
          </a:prstGeom>
          <a:solidFill>
            <a:srgbClr val="E9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8229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9718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7324D"/>
                </a:solidFill>
                <a:latin typeface="Aptos"/>
              </a:rPr>
              <a:t>IMPROVE</a:t>
            </a:r>
          </a:p>
        </p:txBody>
      </p:sp>
      <p:sp>
        <p:nvSpPr>
          <p:cNvPr id="19" name="Rounded Rectangle 18"/>
          <p:cNvSpPr/>
          <p:nvPr/>
        </p:nvSpPr>
        <p:spPr>
          <a:xfrm rot="720000">
            <a:off x="8823960" y="4160520"/>
            <a:ext cx="1828800" cy="621792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 rot="720000">
            <a:off x="8897112" y="4261104"/>
            <a:ext cx="162763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 better journey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22392"/>
            <a:ext cx="1056132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522976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324D"/>
                </a:solidFill>
                <a:latin typeface="Aptos"/>
              </a:rPr>
              <a:t>Direction matters: remove friction at each hand-off.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7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97862"/>
                </a:solidFill>
                <a:latin typeface="Aptos"/>
              </a:rPr>
              <a:t>02 / 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7324D"/>
                </a:solidFill>
                <a:latin typeface="Aptos"/>
              </a:rPr>
              <a:t>Small shifts change 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05840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7487"/>
                </a:solidFill>
                <a:latin typeface="Aptos"/>
              </a:rPr>
              <a:t>Positioning and rotation can make a sequence easier to 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4892040" cy="34747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17487"/>
                </a:solidFill>
                <a:latin typeface="Aptos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92608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C9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953512"/>
            <a:ext cx="32918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03040"/>
                </a:solidFill>
                <a:latin typeface="Aptos"/>
              </a:rPr>
              <a:t>Repeat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79476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C9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822192"/>
            <a:ext cx="32918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03040"/>
                </a:solidFill>
                <a:latin typeface="Aptos"/>
              </a:rPr>
              <a:t>Wait for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466344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C9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690872"/>
            <a:ext cx="329184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03040"/>
                </a:solidFill>
                <a:latin typeface="Aptos"/>
              </a:rPr>
              <a:t>Start again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11680"/>
            <a:ext cx="4892040" cy="3474720"/>
          </a:xfrm>
          <a:prstGeom prst="roundRect">
            <a:avLst>
              <a:gd name="adj" fmla="val 12000"/>
            </a:avLst>
          </a:prstGeom>
          <a:solidFill>
            <a:srgbClr val="EA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B8F71"/>
                </a:solidFill>
                <a:latin typeface="Aptos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92608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29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953512"/>
            <a:ext cx="320040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One clear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79476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49B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822192"/>
            <a:ext cx="320040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One connected hand-off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663440"/>
            <a:ext cx="3566160" cy="393192"/>
          </a:xfrm>
          <a:prstGeom prst="roundRect">
            <a:avLst>
              <a:gd name="adj" fmla="val 12000"/>
            </a:avLst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690872"/>
            <a:ext cx="320040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One confirmed outcome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06440" y="3703320"/>
            <a:ext cx="466344" cy="0"/>
          </a:xfrm>
          <a:prstGeom prst="line">
            <a:avLst/>
          </a:prstGeom>
          <a:ln w="38100">
            <a:solidFill>
              <a:srgbClr val="E97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" y="6473952"/>
            <a:ext cx="11018520" cy="0"/>
          </a:xfrm>
          <a:prstGeom prst="line">
            <a:avLst/>
          </a:prstGeom>
          <a:ln w="8890">
            <a:solidFill>
              <a:srgbClr val="D9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17487"/>
                </a:solidFill>
                <a:latin typeface="Aptos"/>
              </a:rPr>
              <a:t>CAKRAWALA •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61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