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Relationships xmlns="http://schemas.openxmlformats.org/package/2006/relationships"><Relationship Id="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</p:sldIdLst>
  <p:sldSz cx="12192000" cy="6858000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"theme" Type="http://schemas.openxmlformats.org/officeDocument/2006/relationships/theme" Target="theme/theme1.xml"/><Relationship Id="slide1" Type="http://schemas.openxmlformats.org/officeDocument/2006/relationships/slide" Target="slides/slide1.xml"/><Relationship Id="slide2" Type="http://schemas.openxmlformats.org/officeDocument/2006/relationships/slide" Target="slides/slide2.xml"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>
  <p:cSld name="O2P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Case shape 91"/>
          <p:cNvSpPr/>
          <p:nvPr/>
        </p:nvSpPr>
        <p:spPr>
          <a:xfrm rot="0">
            <a:off x="11811000" y="355600"/>
            <a:ext cx="101600" cy="5588000"/>
          </a:xfrm>
          <a:prstGeom prst="rect">
            <a:avLst/>
          </a:prstGeom>
          <a:solidFill>
            <a:srgbClr val="CCFBF1"/>
          </a:solidFill>
          <a:ln>
            <a:noFill/>
          </a:ln>
        </p:spPr>
      </p:sp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ase shape 90"/>
          <p:cNvSpPr/>
          <p:nvPr/>
        </p:nvSpPr>
        <p:spPr>
          <a:xfrm rot="0">
            <a:off x="0" y="0"/>
            <a:ext cx="12192000" cy="10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</p:sp>
      <p:sp>
        <p:nvSpPr>
          <p:cNvPr id="80" name="Case shape 80"/>
          <p:cNvSpPr/>
          <p:nvPr>
            <p:ph type="body" idx="1"/>
          </p:nvPr>
        </p:nvSpPr>
        <p:spPr>
          <a:xfrm rot="0">
            <a:off x="660400" y="5334000"/>
            <a:ext cx="10668000" cy="762000"/>
          </a:xfrm>
          <a:prstGeom prst="rect">
            <a:avLst/>
          </a:prstGeom>
          <a:noFill/>
          <a:ln>
            <a:noFill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_rels/slide2.xml.rels><Relationships xmlns="http://schemas.openxmlformats.org/package/2006/relationships"><Relationship Id="layout" Type="http://schemas.openxmlformats.org/officeDocument/2006/relationships/slideLayout" Target="../slideLayouts/slideLayout1.xml"/><Relationship Id="image" Type="http://schemas.openxmlformats.org/officeDocument/2006/relationships/image" Target="../media/art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Alternate persp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Alternate perspectives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Rotated and mirrored elements preserve their local geometry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1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900000">
            <a:off x="1079500" y="2540000"/>
            <a:ext cx="2921000" cy="2032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Rotate 15 degrees</a:t>
            </a:r>
            <a:endParaRPr sz="2000"/>
          </a:p>
        </p:txBody>
      </p:sp>
      <p:sp>
        <p:nvSpPr>
          <p:cNvPr id="11" name="Case shape 11"/>
          <p:cNvSpPr/>
          <p:nvPr/>
        </p:nvSpPr>
        <p:spPr>
          <a:xfrm rot="0" flipH="1">
            <a:off x="4699000" y="2540000"/>
            <a:ext cx="2540000" cy="20320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000">
                <a:solidFill>
                  <a:srgbClr val="23354D"/>
                </a:solidFill>
                <a:latin typeface="O2P Test Sans"/>
              </a:rPr>
              <a:t>Mirror</a:t>
            </a:r>
            <a:endParaRPr sz="2000"/>
          </a:p>
        </p:txBody>
      </p:sp>
      <p:pic>
        <p:nvPicPr>
          <p:cNvPr id="12" name="Original color study"/>
          <p:cNvPicPr/>
          <p:nvPr/>
        </p:nvPicPr>
        <p:blipFill>
          <a:blip r:embed="image"/>
          <a:stretch>
            <a:fillRect/>
          </a:stretch>
        </p:blipFill>
        <p:spPr>
          <a:xfrm rot="-900000">
            <a:off x="8318500" y="2286000"/>
            <a:ext cx="26670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Alternate persp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 shape 2"/>
          <p:cNvSpPr/>
          <p:nvPr/>
        </p:nvSpPr>
        <p:spPr>
          <a:xfrm rot="0">
            <a:off x="457200" y="355600"/>
            <a:ext cx="11277600" cy="711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3000">
                <a:solidFill>
                  <a:srgbClr val="23354D"/>
                </a:solidFill>
                <a:latin typeface="O2P Test Sans"/>
              </a:rPr>
              <a:t>Alternate perspectives</a:t>
            </a:r>
            <a:endParaRPr sz="3000"/>
          </a:p>
        </p:txBody>
      </p:sp>
      <p:sp>
        <p:nvSpPr>
          <p:cNvPr id="3" name="Case shape 3"/>
          <p:cNvSpPr/>
          <p:nvPr/>
        </p:nvSpPr>
        <p:spPr>
          <a:xfrm rot="0">
            <a:off x="457200" y="11176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600">
                <a:solidFill>
                  <a:srgbClr val="64748B"/>
                </a:solidFill>
                <a:latin typeface="O2P Test Sans"/>
              </a:rPr>
              <a:t>Rotated and mirrored elements preserve their local geometry</a:t>
            </a:r>
            <a:endParaRPr sz="1600"/>
          </a:p>
        </p:txBody>
      </p:sp>
      <p:sp>
        <p:nvSpPr>
          <p:cNvPr id="4" name="Case shape 4"/>
          <p:cNvSpPr/>
          <p:nvPr/>
        </p:nvSpPr>
        <p:spPr>
          <a:xfrm rot="0">
            <a:off x="457200" y="6223000"/>
            <a:ext cx="11277600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" name="Case shape 5"/>
          <p:cNvSpPr/>
          <p:nvPr/>
        </p:nvSpPr>
        <p:spPr>
          <a:xfrm rot="0">
            <a:off x="457200" y="6350000"/>
            <a:ext cx="11277600" cy="406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1200">
                <a:solidFill>
                  <a:srgbClr val="23354D"/>
                </a:solidFill>
                <a:latin typeface="O2P Test Sans"/>
              </a:rPr>
              <a:t>ooxml2pdf / original compatibility corpus / 2</a:t>
            </a:r>
            <a:endParaRPr sz="1200"/>
          </a:p>
        </p:txBody>
      </p:sp>
      <p:sp>
        <p:nvSpPr>
          <p:cNvPr id="10" name="Case shape 10"/>
          <p:cNvSpPr/>
          <p:nvPr/>
        </p:nvSpPr>
        <p:spPr>
          <a:xfrm rot="0">
            <a:off x="660400" y="1968500"/>
            <a:ext cx="10668000" cy="311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6200" rIns="76200" tIns="76200" bIns="76200"/>
          <a:lstStyle/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Alternate perspectives: review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Inspect the composition, text, palette and placement.</a:t>
            </a:r>
            <a:endParaRPr sz="2600"/>
          </a:p>
          <a:p>
            <a:pPr algn="l"/>
            <a:r>
              <a:rPr lang="en-US" sz="2600">
                <a:solidFill>
                  <a:srgbClr val="23354D"/>
                </a:solidFill>
                <a:latin typeface="O2P Test Sans"/>
              </a:rPr>
              <a:t>Compare against a separately rendered reference.</a:t>
            </a:r>
            <a:endParaRPr sz="2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2P Compatibility">
  <a:themeElements>
    <a:clrScheme name="O2P">
      <a:dk1>
        <a:srgbClr val="23354D"/>
      </a:dk1>
      <a:lt1>
        <a:srgbClr val="FFFFFF"/>
      </a:lt1>
      <a:dk2>
        <a:srgbClr val="102A43"/>
      </a:dk2>
      <a:lt2>
        <a:srgbClr val="F1F5F9"/>
      </a:lt2>
      <a:accent1>
        <a:srgbClr val="2563EB"/>
      </a:accent1>
      <a:accent2>
        <a:srgbClr val="0D9488"/>
      </a:accent2>
      <a:accent3>
        <a:srgbClr val="F59E0B"/>
      </a:accent3>
      <a:accent4>
        <a:srgbClr val="8B5CF6"/>
      </a:accent4>
      <a:accent5>
        <a:srgbClr val="EF4444"/>
      </a:accent5>
      <a:accent6>
        <a:srgbClr val="64748B"/>
      </a:accent6>
      <a:hlink>
        <a:srgbClr val="2563EB"/>
      </a:hlink>
      <a:folHlink>
        <a:srgbClr val="8B5CF6"/>
      </a:folHlink>
    </a:clrScheme>
    <a:fontScheme name="O2P">
      <a:majorFont>
        <a:latin typeface="O2P Test Sans"/>
        <a:ea typeface=""/>
        <a:cs typeface=""/>
      </a:majorFont>
      <a:minorFont>
        <a:latin typeface="O2P Test Sans"/>
        <a:ea typeface=""/>
        <a:cs typeface=""/>
      </a:minorFont>
    </a:fontScheme>
    <a:fmtScheme name="O2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