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979A8"/>
                </a:solidFill>
                <a:latin typeface="Aptos"/>
              </a:rPr>
              <a:t>01 / VISUAL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Building services people can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A three-part operating model for clearer, faster public services.</a:t>
            </a:r>
          </a:p>
        </p:txBody>
      </p:sp>
      <p:sp>
        <p:nvSpPr>
          <p:cNvPr id="6" name="Oval 5"/>
          <p:cNvSpPr/>
          <p:nvPr/>
        </p:nvSpPr>
        <p:spPr>
          <a:xfrm>
            <a:off x="9921240" y="384048"/>
            <a:ext cx="1234440" cy="1234440"/>
          </a:xfrm>
          <a:prstGeom prst="ellipse">
            <a:avLst/>
          </a:prstGeom>
          <a:solidFill>
            <a:srgbClr val="D9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880" y="676656"/>
            <a:ext cx="658368" cy="658368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509760" y="1673352"/>
            <a:ext cx="1920240" cy="0"/>
          </a:xfrm>
          <a:prstGeom prst="line">
            <a:avLst/>
          </a:prstGeom>
          <a:ln w="25400">
            <a:solidFill>
              <a:srgbClr val="29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965960"/>
            <a:ext cx="345643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73152" cy="2606040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2167128"/>
            <a:ext cx="384048" cy="384048"/>
          </a:xfrm>
          <a:prstGeom prst="ellipse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6712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167128"/>
            <a:ext cx="2523744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Make it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642615"/>
            <a:ext cx="2889503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One front door for common services, with plain language and fewer hand-offs.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965960"/>
            <a:ext cx="345643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965960"/>
            <a:ext cx="73152" cy="2606040"/>
          </a:xfrm>
          <a:prstGeom prst="rect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0288" y="2167128"/>
            <a:ext cx="384048" cy="384048"/>
          </a:xfrm>
          <a:prstGeom prst="ellipse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16712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67128"/>
            <a:ext cx="2523743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Make it 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42615"/>
            <a:ext cx="2889503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Shared service standards, clear ownership and visible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1965960"/>
            <a:ext cx="3456432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965960"/>
            <a:ext cx="73152" cy="260604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02752" y="2167128"/>
            <a:ext cx="384048" cy="384048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16712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2167128"/>
            <a:ext cx="2523743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Make it inclusive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642615"/>
            <a:ext cx="2889503" cy="1801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Design with people who face the greatest barriers to access.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29784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B544"/>
                </a:solidFill>
                <a:latin typeface="Aptos"/>
              </a:rPr>
              <a:t>The promise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065776"/>
            <a:ext cx="8732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A service that works the first time, for everyone.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9B8B0"/>
                </a:solidFill>
                <a:latin typeface="Aptos"/>
              </a:rPr>
              <a:t>02 / DELIVERY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Turn the promise into daily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A practical sequence teams can use this quarter.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2057400"/>
            <a:ext cx="777240" cy="777240"/>
          </a:xfrm>
          <a:prstGeom prst="ellipse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4728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Map needs and friction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30552" y="2441448"/>
            <a:ext cx="1252728" cy="0"/>
          </a:xfrm>
          <a:prstGeom prst="line">
            <a:avLst/>
          </a:prstGeom>
          <a:ln w="25400">
            <a:solidFill>
              <a:srgbClr val="B8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23360" y="2057400"/>
            <a:ext cx="777240" cy="777240"/>
          </a:xfrm>
          <a:prstGeom prst="ellipse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057400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17520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Simplify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44728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Remove avoidable steps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73752" y="2441448"/>
            <a:ext cx="1252728" cy="0"/>
          </a:xfrm>
          <a:prstGeom prst="line">
            <a:avLst/>
          </a:prstGeom>
          <a:ln w="25400">
            <a:solidFill>
              <a:srgbClr val="B8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766559" y="2057400"/>
            <a:ext cx="777240" cy="777240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2057400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17520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44728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Join channels and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6952" y="2441448"/>
            <a:ext cx="1252728" cy="0"/>
          </a:xfrm>
          <a:prstGeom prst="line">
            <a:avLst/>
          </a:prstGeom>
          <a:ln w="25400">
            <a:solidFill>
              <a:srgbClr val="B8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509760" y="2057400"/>
            <a:ext cx="777240" cy="777240"/>
          </a:xfrm>
          <a:prstGeom prst="ellipse">
            <a:avLst/>
          </a:prstGeom>
          <a:solidFill>
            <a:srgbClr val="E9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057400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017520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7324D"/>
                </a:solidFill>
                <a:latin typeface="Aptos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344728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Review evidence monthly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617720"/>
            <a:ext cx="10241280" cy="987552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80060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979A8"/>
                </a:solidFill>
                <a:latin typeface="Aptos"/>
              </a:rPr>
              <a:t>90-day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745736"/>
            <a:ext cx="772667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Three redesigned journeys • one shared dashboard • named service owners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