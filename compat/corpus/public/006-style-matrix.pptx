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979A8"/>
                </a:solidFill>
                <a:latin typeface="Aptos"/>
              </a:rPr>
              <a:t>01 / VISUAL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A palette with a job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Color families support meaning, contrast and consistent components.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56231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020824"/>
            <a:ext cx="658368" cy="914400"/>
          </a:xfrm>
          <a:prstGeom prst="roundRect">
            <a:avLst>
              <a:gd name="adj" fmla="val 12000"/>
            </a:avLst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084831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Ocean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14600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Primary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56231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90872" y="2020824"/>
            <a:ext cx="658368" cy="914400"/>
          </a:xfrm>
          <a:prstGeom prst="roundRect">
            <a:avLst>
              <a:gd name="adj" fmla="val 12000"/>
            </a:avLst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084831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Lagoon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14600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56231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85632" y="2020824"/>
            <a:ext cx="658368" cy="914400"/>
          </a:xfrm>
          <a:prstGeom prst="roundRect">
            <a:avLst>
              <a:gd name="adj" fmla="val 12000"/>
            </a:avLst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084831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Sunrise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514600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Highlight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9584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3694176"/>
            <a:ext cx="658368" cy="914400"/>
          </a:xfrm>
          <a:prstGeom prst="roundRect">
            <a:avLst>
              <a:gd name="adj" fmla="val 12000"/>
            </a:avLst>
          </a:prstGeom>
          <a:solidFill>
            <a:srgbClr val="E9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758183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Terracotta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879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Attention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529584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90872" y="3694176"/>
            <a:ext cx="658368" cy="914400"/>
          </a:xfrm>
          <a:prstGeom prst="roundRect">
            <a:avLst>
              <a:gd name="adj" fmla="val 12000"/>
            </a:avLst>
          </a:prstGeom>
          <a:solidFill>
            <a:srgbClr val="4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3758183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Canopy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1879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Positive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529584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85632" y="3694176"/>
            <a:ext cx="658368" cy="914400"/>
          </a:xfrm>
          <a:prstGeom prst="roundRect">
            <a:avLst>
              <a:gd name="adj" fmla="val 12000"/>
            </a:avLst>
          </a:prstGeom>
          <a:solidFill>
            <a:srgbClr val="79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758183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Iris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18795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17487"/>
                </a:solidFill>
                <a:latin typeface="Aptos"/>
              </a:rPr>
              <a:t>Insight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486400"/>
            <a:ext cx="10698480" cy="457200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550408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Use direct color where the message requires a deliberate exception.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STYLE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9B8B0"/>
                </a:solidFill>
                <a:latin typeface="Aptos"/>
              </a:rPr>
              <a:t>02 / APPLIED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From reference to real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A direct override remains visible beside theme-driven styling.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800600" cy="3611880"/>
          </a:xfrm>
          <a:prstGeom prst="roundRect">
            <a:avLst>
              <a:gd name="adj" fmla="val 12000"/>
            </a:avLst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1284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6F2F1"/>
                </a:solidFill>
                <a:latin typeface="Aptos"/>
              </a:rPr>
              <a:t>THEME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743200"/>
            <a:ext cx="38404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Consistent by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529584"/>
            <a:ext cx="3749039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0EBF0"/>
                </a:solidFill>
                <a:latin typeface="Aptos"/>
              </a:rPr>
              <a:t>Fill, outline and background draw from the shared visual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4709160"/>
            <a:ext cx="2743200" cy="475488"/>
          </a:xfrm>
          <a:prstGeom prst="roundRect">
            <a:avLst>
              <a:gd name="adj" fmla="val 12000"/>
            </a:avLst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800600"/>
            <a:ext cx="24871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7324D"/>
                </a:solidFill>
                <a:latin typeface="Aptos"/>
              </a:rPr>
              <a:t>Explore the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4892040" cy="3611880"/>
          </a:xfrm>
          <a:prstGeom prst="roundRect">
            <a:avLst>
              <a:gd name="adj" fmla="val 12000"/>
            </a:avLst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221284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324D"/>
                </a:solidFill>
                <a:latin typeface="Aptos"/>
              </a:rPr>
              <a:t>LOCAL OVERRIDE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2743200"/>
            <a:ext cx="393192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7324D"/>
                </a:solidFill>
                <a:latin typeface="Aptos"/>
              </a:rPr>
              <a:t>A focused 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529584"/>
            <a:ext cx="38404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F4D55"/>
                </a:solidFill>
                <a:latin typeface="Aptos"/>
              </a:rPr>
              <a:t>A local emphasis can override the shared accent without changing the theme.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0256" y="4709160"/>
            <a:ext cx="2743200" cy="475488"/>
          </a:xfrm>
          <a:prstGeom prst="roundRect">
            <a:avLst>
              <a:gd name="adj" fmla="val 12000"/>
            </a:avLst>
          </a:prstGeom>
          <a:solidFill>
            <a:srgbClr val="E9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4800600"/>
            <a:ext cx="24871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Important update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STYLE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324D"/>
      </a:dk1>
      <a:lt1>
        <a:srgbClr val="FFFFFF"/>
      </a:lt1>
      <a:dk2>
        <a:srgbClr val="203040"/>
      </a:dk2>
      <a:lt2>
        <a:srgbClr val="F3F6F8"/>
      </a:lt2>
      <a:accent1>
        <a:srgbClr val="2979A8"/>
      </a:accent1>
      <a:accent2>
        <a:srgbClr val="49B8B0"/>
      </a:accent2>
      <a:accent3>
        <a:srgbClr val="F2B544"/>
      </a:accent3>
      <a:accent4>
        <a:srgbClr val="E97862"/>
      </a:accent4>
      <a:accent5>
        <a:srgbClr val="4B8F71"/>
      </a:accent5>
      <a:accent6>
        <a:srgbClr val="795DA8"/>
      </a:accent6>
      <a:hlink>
        <a:srgbClr val="2979A8"/>
      </a:hlink>
      <a:folHlink>
        <a:srgbClr val="795DA8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