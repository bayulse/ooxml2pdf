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73736"/>
          </a:xfrm>
          <a:prstGeom prst="rect">
            <a:avLst/>
          </a:prstGeom>
          <a:solidFill>
            <a:srgbClr val="49B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7315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B544"/>
                </a:solidFill>
                <a:latin typeface="Apto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822960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ptos"/>
              </a:rPr>
              <a:t>A shared visual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048256"/>
            <a:ext cx="822960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3E1E8"/>
                </a:solidFill>
                <a:latin typeface="Aptos"/>
              </a:rPr>
              <a:t>Theme color and typography flow through every service touchpoint.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200400"/>
            <a:ext cx="1444752" cy="914400"/>
          </a:xfrm>
          <a:prstGeom prst="roundRect">
            <a:avLst>
              <a:gd name="adj" fmla="val 12000"/>
            </a:avLst>
          </a:prstGeom>
          <a:solidFill>
            <a:srgbClr val="297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ACCENT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3200400"/>
            <a:ext cx="1444752" cy="914400"/>
          </a:xfrm>
          <a:prstGeom prst="roundRect">
            <a:avLst>
              <a:gd name="adj" fmla="val 12000"/>
            </a:avLst>
          </a:prstGeom>
          <a:solidFill>
            <a:srgbClr val="49B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42616" y="4315968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ACCENT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3200400"/>
            <a:ext cx="1444752" cy="914400"/>
          </a:xfrm>
          <a:prstGeom prst="roundRect">
            <a:avLst>
              <a:gd name="adj" fmla="val 12000"/>
            </a:avLst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4315968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ACCENT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3368" y="3200400"/>
            <a:ext cx="1444752" cy="914400"/>
          </a:xfrm>
          <a:prstGeom prst="roundRect">
            <a:avLst>
              <a:gd name="adj" fmla="val 12000"/>
            </a:avLst>
          </a:prstGeom>
          <a:solidFill>
            <a:srgbClr val="E97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315968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ACCENT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200400"/>
            <a:ext cx="1444752" cy="914400"/>
          </a:xfrm>
          <a:prstGeom prst="roundRect">
            <a:avLst>
              <a:gd name="adj" fmla="val 12000"/>
            </a:avLst>
          </a:prstGeom>
          <a:solidFill>
            <a:srgbClr val="4B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4315968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ACCENT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19" y="3200400"/>
            <a:ext cx="1444752" cy="914400"/>
          </a:xfrm>
          <a:prstGeom prst="roundRect">
            <a:avLst>
              <a:gd name="adj" fmla="val 12000"/>
            </a:avLst>
          </a:prstGeom>
          <a:solidFill>
            <a:srgbClr val="79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04119" y="4315968"/>
            <a:ext cx="144475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ACCENT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047488"/>
            <a:ext cx="10652760" cy="841248"/>
          </a:xfrm>
          <a:prstGeom prst="roundRect">
            <a:avLst>
              <a:gd name="adj" fmla="val 12000"/>
            </a:avLst>
          </a:prstGeom>
          <a:solidFill>
            <a:srgbClr val="234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5202936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2B544"/>
                </a:solidFill>
                <a:latin typeface="Aptos"/>
              </a:rPr>
              <a:t>Major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8608" y="5129784"/>
            <a:ext cx="813816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Clear decisions start with clear hierarchy.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" y="6473952"/>
            <a:ext cx="11018520" cy="0"/>
          </a:xfrm>
          <a:prstGeom prst="line">
            <a:avLst/>
          </a:prstGeom>
          <a:ln w="889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17487"/>
                </a:solidFill>
                <a:latin typeface="Aptos"/>
              </a:rPr>
              <a:t>CAKRAWALA • DESIGN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9224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617487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Built once, applied everywhere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shared theme makes a service feel coherent across teams and channels.</a:t>
            </a:r>
          </a:p>
          <a:p>
            <a:pPr/>
            <a:r>
              <a:t>Use accent colors with purpose</a:t>
            </a:r>
          </a:p>
          <a:p>
            <a:pPr/>
            <a:r>
              <a:t>Keep titles short and scannable</a:t>
            </a:r>
          </a:p>
          <a:p>
            <a:pPr/>
            <a:r>
              <a:t>Let the content layout preserve breathing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50749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297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06039" y="50749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49B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43400" y="50749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80759" y="50749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E97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19" y="50749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4B8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55480" y="50749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79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94360" y="6473952"/>
            <a:ext cx="11018520" cy="0"/>
          </a:xfrm>
          <a:prstGeom prst="line">
            <a:avLst/>
          </a:prstGeom>
          <a:ln w="8890">
            <a:solidFill>
              <a:srgbClr val="D9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17487"/>
                </a:solidFill>
                <a:latin typeface="Aptos"/>
              </a:rPr>
              <a:t>CAKRAWALA • DESIGN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617487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7324D"/>
      </a:dk1>
      <a:lt1>
        <a:srgbClr val="FFFFFF"/>
      </a:lt1>
      <a:dk2>
        <a:srgbClr val="203040"/>
      </a:dk2>
      <a:lt2>
        <a:srgbClr val="F3F6F8"/>
      </a:lt2>
      <a:accent1>
        <a:srgbClr val="2979A8"/>
      </a:accent1>
      <a:accent2>
        <a:srgbClr val="49B8B0"/>
      </a:accent2>
      <a:accent3>
        <a:srgbClr val="F2B544"/>
      </a:accent3>
      <a:accent4>
        <a:srgbClr val="E97862"/>
      </a:accent4>
      <a:accent5>
        <a:srgbClr val="4B8F71"/>
      </a:accent5>
      <a:accent6>
        <a:srgbClr val="795DA8"/>
      </a:accent6>
      <a:hlink>
        <a:srgbClr val="2979A8"/>
      </a:hlink>
      <a:folHlink>
        <a:srgbClr val="795DA8"/>
      </a:folHlink>
    </a:clrScheme>
    <a:fontScheme name="Office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