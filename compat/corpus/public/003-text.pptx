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9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64008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95DA8"/>
                </a:solidFill>
                <a:latin typeface="Aptos"/>
              </a:rPr>
              <a:t>01 / NARRATIVE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7324D"/>
                </a:solidFill>
                <a:latin typeface="Aptos"/>
              </a:rPr>
              <a:t>Trust is built in the small moments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61872"/>
            <a:ext cx="10058400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17487"/>
                </a:solidFill>
                <a:latin typeface="Aptos"/>
              </a:rPr>
              <a:t>Clear information and dependable follow-through make services feel fair.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6675120" cy="4114800"/>
          </a:xfrm>
          <a:prstGeom prst="roundRect">
            <a:avLst>
              <a:gd name="adj" fmla="val 12000"/>
            </a:avLst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084831"/>
            <a:ext cx="594360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5200" b="1">
                <a:solidFill>
                  <a:srgbClr val="F2B544"/>
                </a:solidFill>
                <a:latin typeface="Aptos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395728"/>
            <a:ext cx="5440680" cy="1828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ptos"/>
              </a:rPr>
              <a:t>A good public service does not ask people to understand our organisation chart. It helps them take the next step with confidence.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5029200"/>
            <a:ext cx="36576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49B8B0"/>
                </a:solidFill>
                <a:latin typeface="Aptos"/>
              </a:rPr>
              <a:t>SERVICE DESIGN PRINCIPLE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874519"/>
            <a:ext cx="3611880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874519"/>
            <a:ext cx="73152" cy="1115568"/>
          </a:xfrm>
          <a:prstGeom prst="rect">
            <a:avLst/>
          </a:prstGeom>
          <a:solidFill>
            <a:srgbClr val="29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8" y="2075688"/>
            <a:ext cx="3136391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7324D"/>
                </a:solidFill>
                <a:latin typeface="Aptos"/>
              </a:rPr>
              <a:t>Plain language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0728" y="2551176"/>
            <a:ext cx="304495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17487"/>
                </a:solidFill>
                <a:latin typeface="Aptos"/>
              </a:rPr>
              <a:t>Say what happens next.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3273552"/>
            <a:ext cx="3611880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18120" y="3273552"/>
            <a:ext cx="73152" cy="1115568"/>
          </a:xfrm>
          <a:prstGeom prst="rect">
            <a:avLst/>
          </a:prstGeom>
          <a:solidFill>
            <a:srgbClr val="49B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10728" y="3474720"/>
            <a:ext cx="3136391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7324D"/>
                </a:solidFill>
                <a:latin typeface="Aptos"/>
              </a:rPr>
              <a:t>One owner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0728" y="3950208"/>
            <a:ext cx="304495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17487"/>
                </a:solidFill>
                <a:latin typeface="Aptos"/>
              </a:rPr>
              <a:t>Make accountability visible.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4672584"/>
            <a:ext cx="3611880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18120" y="4672584"/>
            <a:ext cx="73152" cy="1115568"/>
          </a:xfrm>
          <a:prstGeom prst="rect">
            <a:avLst/>
          </a:prstGeom>
          <a:solidFill>
            <a:srgbClr val="F2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10728" y="4873752"/>
            <a:ext cx="3136391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7324D"/>
                </a:solidFill>
                <a:latin typeface="Aptos"/>
              </a:rPr>
              <a:t>Close the loop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0728" y="5349240"/>
            <a:ext cx="304495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17487"/>
                </a:solidFill>
                <a:latin typeface="Aptos"/>
              </a:rPr>
              <a:t>Tell people when it is done.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4360" y="6473952"/>
            <a:ext cx="11018520" cy="0"/>
          </a:xfrm>
          <a:prstGeom prst="line">
            <a:avLst/>
          </a:prstGeom>
          <a:ln w="8890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21792" y="6510528"/>
            <a:ext cx="64008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17487"/>
                </a:solidFill>
                <a:latin typeface="Aptos"/>
              </a:rPr>
              <a:t>CAKRAWALA •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617487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9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64008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95DA8"/>
                </a:solidFill>
                <a:latin typeface="Aptos"/>
              </a:rPr>
              <a:t>02 / MESSAGE 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7324D"/>
                </a:solidFill>
                <a:latin typeface="Aptos"/>
              </a:rPr>
              <a:t>One message, three audiences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61872"/>
            <a:ext cx="10058400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17487"/>
                </a:solidFill>
                <a:latin typeface="Aptos"/>
              </a:rPr>
              <a:t>A text-forward page that tests hierarchy, wrapping, bullets and emphasis.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365760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7324D"/>
                </a:solidFill>
                <a:latin typeface="Aptos"/>
              </a:rPr>
              <a:t>Our 2026 focus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713232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2979A8"/>
                </a:solidFill>
                <a:latin typeface="Aptos"/>
              </a:rPr>
              <a:t>Make common services easier to find, easier to complete and easier to trust.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474720"/>
            <a:ext cx="329184" cy="329184"/>
          </a:xfrm>
          <a:prstGeom prst="ellipse">
            <a:avLst/>
          </a:prstGeom>
          <a:solidFill>
            <a:srgbClr val="29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53312" y="3447288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7324D"/>
                </a:solidFill>
                <a:latin typeface="Aptos"/>
              </a:rPr>
              <a:t>For the public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3447288"/>
            <a:ext cx="62179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17487"/>
                </a:solidFill>
                <a:latin typeface="Aptos"/>
              </a:rPr>
              <a:t>Clear steps and predictable outcomes.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224528"/>
            <a:ext cx="329184" cy="329184"/>
          </a:xfrm>
          <a:prstGeom prst="ellipse">
            <a:avLst/>
          </a:prstGeom>
          <a:solidFill>
            <a:srgbClr val="49B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53312" y="4197096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7324D"/>
                </a:solidFill>
                <a:latin typeface="Aptos"/>
              </a:rPr>
              <a:t>For staff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4197096"/>
            <a:ext cx="62179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17487"/>
                </a:solidFill>
                <a:latin typeface="Aptos"/>
              </a:rPr>
              <a:t>Useful guidance at the moment of work.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974336"/>
            <a:ext cx="329184" cy="329184"/>
          </a:xfrm>
          <a:prstGeom prst="ellipse">
            <a:avLst/>
          </a:prstGeom>
          <a:solidFill>
            <a:srgbClr val="F2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53312" y="4946903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7324D"/>
                </a:solidFill>
                <a:latin typeface="Aptos"/>
              </a:rPr>
              <a:t>For leaders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4946903"/>
            <a:ext cx="62179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17487"/>
                </a:solidFill>
                <a:latin typeface="Aptos"/>
              </a:rPr>
              <a:t>Evidence that reveals where to improve.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1920240"/>
            <a:ext cx="2148840" cy="3886200"/>
          </a:xfrm>
          <a:prstGeom prst="roundRect">
            <a:avLst>
              <a:gd name="adj" fmla="val 12000"/>
            </a:avLst>
          </a:prstGeom>
          <a:solidFill>
            <a:srgbClr val="F2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74352" y="2258568"/>
            <a:ext cx="15544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95DA8"/>
                </a:solidFill>
                <a:latin typeface="Aptos"/>
              </a:rPr>
              <a:t>TONE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74352" y="2880360"/>
            <a:ext cx="155448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7324D"/>
                </a:solidFill>
                <a:latin typeface="Aptos"/>
              </a:rPr>
              <a:t>Confident.</a:t>
            </a:r>
          </a:p>
          <a:p>
            <a:pPr algn="l">
              <a:spcAft>
                <a:spcPts val="400"/>
              </a:spcAft>
            </a:pPr>
            <a:r>
              <a:rPr sz="1900" b="1">
                <a:solidFill>
                  <a:srgbClr val="17324D"/>
                </a:solidFill>
                <a:latin typeface="Aptos"/>
              </a:rPr>
              <a:t>Helpful.</a:t>
            </a:r>
          </a:p>
          <a:p>
            <a:pPr algn="l">
              <a:spcAft>
                <a:spcPts val="400"/>
              </a:spcAft>
            </a:pPr>
            <a:r>
              <a:rPr sz="1900" b="1">
                <a:solidFill>
                  <a:srgbClr val="17324D"/>
                </a:solidFill>
                <a:latin typeface="Aptos"/>
              </a:rPr>
              <a:t>Respectful.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5989320"/>
            <a:ext cx="73152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17487"/>
                </a:solidFill>
                <a:latin typeface="Aptos"/>
              </a:rPr>
              <a:t>Bahasa Indonesia • English • Unicode: layanan publik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4360" y="6473952"/>
            <a:ext cx="11018520" cy="0"/>
          </a:xfrm>
          <a:prstGeom prst="line">
            <a:avLst/>
          </a:prstGeom>
          <a:ln w="8890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21792" y="6510528"/>
            <a:ext cx="64008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17487"/>
                </a:solidFill>
                <a:latin typeface="Aptos"/>
              </a:rPr>
              <a:t>CAKRAWALA •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617487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