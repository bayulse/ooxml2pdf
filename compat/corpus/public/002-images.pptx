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979A8"/>
                </a:solidFill>
                <a:latin typeface="Aptos"/>
              </a:rPr>
              <a:t>01 /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324D"/>
                </a:solidFill>
                <a:latin typeface="Aptos"/>
              </a:rPr>
              <a:t>A city that connects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0584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A visual brief for better access to public services.</a:t>
            </a:r>
          </a:p>
        </p:txBody>
      </p:sp>
      <p:pic>
        <p:nvPicPr>
          <p:cNvPr id="6" name="Picture 5" descr="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81228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54112" y="1847088"/>
            <a:ext cx="3794760" cy="3867912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01583" y="2212848"/>
            <a:ext cx="3017520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7324D"/>
                </a:solidFill>
                <a:latin typeface="Aptos"/>
              </a:rPr>
              <a:t>CONNECTED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7324D"/>
                </a:solidFill>
                <a:latin typeface="Aptos"/>
              </a:rPr>
              <a:t>COMMUNITIES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9872" y="3474720"/>
            <a:ext cx="306324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17487"/>
                </a:solidFill>
                <a:latin typeface="Aptos"/>
              </a:rPr>
              <a:t>Bring essential services closer to where people live, work and learn.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4736592"/>
            <a:ext cx="457200" cy="457200"/>
          </a:xfrm>
          <a:prstGeom prst="ellipse">
            <a:avLst/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9952" y="4709160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979A8"/>
                </a:solidFill>
                <a:latin typeface="Aptos"/>
              </a:rPr>
              <a:t>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5010912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17487"/>
                </a:solidFill>
                <a:latin typeface="Aptos"/>
              </a:rPr>
              <a:t>Closer • clearer • more human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6473952"/>
            <a:ext cx="11018520" cy="0"/>
          </a:xfrm>
          <a:prstGeom prst="line">
            <a:avLst/>
          </a:prstGeom>
          <a:ln w="889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17487"/>
                </a:solidFill>
                <a:latin typeface="Aptos"/>
              </a:rPr>
              <a:t>CAKRAWALA •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1748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9B8B0"/>
                </a:solidFill>
                <a:latin typeface="Aptos"/>
              </a:rPr>
              <a:t>02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324D"/>
                </a:solidFill>
                <a:latin typeface="Aptos"/>
              </a:rPr>
              <a:t>See the service, not just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0584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Illustrative service dashboard image paired with a simple decision.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56231"/>
            <a:ext cx="713232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892807"/>
            <a:ext cx="3401568" cy="4078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94560"/>
            <a:ext cx="274320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What the image tells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971800"/>
            <a:ext cx="26974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17487"/>
                </a:solidFill>
                <a:latin typeface="Aptos"/>
              </a:rPr>
              <a:t>Access is improving, while response time remains the clearest opportunity.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4572000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4718304"/>
            <a:ext cx="24231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B8F71"/>
                </a:solidFill>
                <a:latin typeface="Aptos"/>
              </a:rPr>
              <a:t>NEXT  •  Reduce repeat visits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473952"/>
            <a:ext cx="11018520" cy="0"/>
          </a:xfrm>
          <a:prstGeom prst="line">
            <a:avLst/>
          </a:prstGeom>
          <a:ln w="889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17487"/>
                </a:solidFill>
                <a:latin typeface="Aptos"/>
              </a:rPr>
              <a:t>CAKRAWALA •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174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